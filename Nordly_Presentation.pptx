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77240"/>
            <a:ext cx="10698480" cy="5349240"/>
          </a:xfrm>
          <a:prstGeom prst="roundRect">
            <a:avLst>
              <a:gd name="adj" fmla="val 376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pic>
        <p:nvPicPr>
          <p:cNvPr id="3" name="Image 0" descr="C:\CODE\NORDLY\nordly\scripts\assets\nordly-logo-ful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54680" y="1371600"/>
            <a:ext cx="5852160" cy="1874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749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energy waste into measurable savings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4261104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energy intelligence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1097280"/>
            <a:ext cx="4526280" cy="466344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31520" y="91440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companies are losing money on energy — without knowing it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761488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Rising energy costs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364992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383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visibility into waste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986784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0050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Multi-location complexity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608576"/>
            <a:ext cx="256032" cy="256032"/>
          </a:xfrm>
          <a:prstGeom prst="roundRect">
            <a:avLst>
              <a:gd name="adj" fmla="val 28571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6268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reporting takes 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69480" y="1828800"/>
            <a:ext cx="374904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69480" y="3108960"/>
            <a:ext cx="374904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4389120"/>
            <a:ext cx="374904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135331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teams react late because energy data sits in siloed reports.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69480" y="26334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issues stay hidden until costs spike month over month.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913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work grows while meaningful optimization gets delayed.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Nordly turns energy data into savings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consultants. No complexity. Just results.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26771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26771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energy waste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706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scans historical patterns to detect anomalies and hidden usage peaks.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11112" y="226771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6F4FA"/>
          </a:solidFill>
          <a:ln w="12700">
            <a:solidFill>
              <a:srgbClr val="E6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0" y="226771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insights into action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706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missions guide teams from issue detection to execution.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423367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42336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measurable savings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467258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dashboards show month-over-month impact in euros and efficiency.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397764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11112" y="4233672"/>
            <a:ext cx="493776" cy="493776"/>
          </a:xfrm>
          <a:prstGeom prst="roundRect">
            <a:avLst>
              <a:gd name="adj" fmla="val 2592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423367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ESG reports automatically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467258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clear reporting packets without extra manual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Nordly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7830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150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81328" y="1764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locations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2258568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location type such as office, hotel, retail, or warehouse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7830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150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67728" y="17647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AI insights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10528" y="2258568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Nordly highlights waste patterns and optimization opportunities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41148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468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81328" y="4096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insights into missions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4590288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practical actions with clear ownership and timelines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148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4680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67728" y="4096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savings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10528" y="4590288"/>
            <a:ext cx="4617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 results and verify ROI across every active location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NORDLY\nordly\scripts\assets\nordly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7080" y="603504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65836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savings instantly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31520" y="1417320"/>
            <a:ext cx="1069848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51560" y="17830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1984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monthly savings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280160" y="23134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€1,320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280160" y="29260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+14% vs last month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11880" y="17830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0" y="1984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yearly savings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0" y="23134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€15,840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3840480" y="29260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Projected annualized value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0" y="1984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insights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0" y="23134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2500" dirty="0"/>
          </a:p>
        </p:txBody>
      </p:sp>
      <p:sp>
        <p:nvSpPr>
          <p:cNvPr id="16" name="Text 13"/>
          <p:cNvSpPr/>
          <p:nvPr/>
        </p:nvSpPr>
        <p:spPr>
          <a:xfrm>
            <a:off x="6400800" y="29260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high-priority opportunities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732520" y="178308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61120" y="1984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missions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961120" y="23134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8961120" y="29260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due this week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1051560" y="3611880"/>
            <a:ext cx="67665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280160" y="3794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Locations tracked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280160" y="40599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2743200" y="4800600"/>
            <a:ext cx="384048" cy="777240"/>
          </a:xfrm>
          <a:prstGeom prst="roundRect">
            <a:avLst>
              <a:gd name="adj" fmla="val 19048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83280" y="4251960"/>
            <a:ext cx="384048" cy="1325880"/>
          </a:xfrm>
          <a:prstGeom prst="roundRect">
            <a:avLst>
              <a:gd name="adj" fmla="val 19048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023360" y="4572000"/>
            <a:ext cx="384048" cy="1005840"/>
          </a:xfrm>
          <a:prstGeom prst="roundRect">
            <a:avLst>
              <a:gd name="adj" fmla="val 19048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3794760"/>
            <a:ext cx="384048" cy="1783080"/>
          </a:xfrm>
          <a:prstGeom prst="roundRect">
            <a:avLst>
              <a:gd name="adj" fmla="val 19048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4160520"/>
            <a:ext cx="384048" cy="1417320"/>
          </a:xfrm>
          <a:prstGeom prst="roundRect">
            <a:avLst>
              <a:gd name="adj" fmla="val 19048"/>
            </a:avLst>
          </a:prstGeom>
          <a:solidFill>
            <a:srgbClr val="D9F0F7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3566160"/>
            <a:ext cx="384048" cy="2011680"/>
          </a:xfrm>
          <a:prstGeom prst="roundRect">
            <a:avLst>
              <a:gd name="adj" fmla="val 19048"/>
            </a:avLst>
          </a:prstGeom>
          <a:solidFill>
            <a:srgbClr val="0E8DB8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0" y="3931920"/>
            <a:ext cx="384048" cy="1645920"/>
          </a:xfrm>
          <a:prstGeom prst="roundRect">
            <a:avLst>
              <a:gd name="adj" fmla="val 19048"/>
            </a:avLst>
          </a:prstGeom>
          <a:solidFill>
            <a:srgbClr val="0E8DB8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138160" y="3611880"/>
            <a:ext cx="29260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36676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location opportunity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366760" y="4050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A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366760" y="4526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 runtime optimization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366760" y="488289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€420/mo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finds what to improve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47088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E6FFFB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Overnight runtime exceeds target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remains active after occupancy, increasing baseline consumption.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savings: €280/month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92%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47088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E6FFFB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74520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floor lighting over-illumination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5420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Lighting intensity can be reduced during low-footfall windows.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32186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savings: €190/month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474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88%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21040" y="1645920"/>
            <a:ext cx="3154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49640" y="1847088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E6FFFB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874520"/>
            <a:ext cx="960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496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load overlap in shared zones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49640" y="2542032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Staggering equipment schedules lowers concurrent demand spikes.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49640" y="32186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savings: €340/month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49640" y="3474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Confidence: 90%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0744200" cy="1783080"/>
          </a:xfrm>
          <a:prstGeom prst="roundRect">
            <a:avLst>
              <a:gd name="adj" fmla="val 5128"/>
            </a:avLst>
          </a:prstGeom>
          <a:solidFill>
            <a:srgbClr val="D9F0F7"/>
          </a:solidFill>
          <a:ln w="12700">
            <a:solidFill>
              <a:srgbClr val="9ED4E6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4617720"/>
            <a:ext cx="6675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 are prioritized by impact and effort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005840" y="50292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focus on the highest return actions first and validate results in one workflow.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549640" y="4754880"/>
            <a:ext cx="2011680" cy="420624"/>
          </a:xfrm>
          <a:prstGeom prst="roundRect">
            <a:avLst>
              <a:gd name="adj" fmla="val 3913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4782312"/>
            <a:ext cx="2011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Prioritized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insights into actions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7190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88136" y="2249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 HVAC night schedule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88136" y="2578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A • Est. €180/mo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3246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88136" y="3392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corridor lighting 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88136" y="3721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West • Est. €90/mo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4389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88136" y="4535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standby equipment draw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88136" y="4864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3 • Est. €70/mo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15544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D9F0F7"/>
          </a:solidFill>
          <a:ln w="12700">
            <a:solidFill>
              <a:srgbClr val="9ED4E6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17190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81728" y="2103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9744" y="2249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 chiller cycling window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9744" y="2578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Hub • Owner: Ops Lead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81728" y="3246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9744" y="3392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 occupancy sensors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9744" y="3721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 North • Due Friday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81728" y="4389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9744" y="4535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non-critical load profile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4864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 B • 63% complete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0456" y="1554480"/>
            <a:ext cx="3611880" cy="4526280"/>
          </a:xfrm>
          <a:prstGeom prst="roundRect">
            <a:avLst>
              <a:gd name="adj" fmla="val 253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7190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03336" y="2103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31352" y="2249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HVAC lockout schedule deployed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31352" y="2578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B • Saved €210/mo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403336" y="3246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31352" y="3392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Lighting profile right-sized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3721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East • Saved €130/mo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403336" y="438912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531352" y="4535424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Boiler start-up sequence tuned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31352" y="4864608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Warehouse 1 • Saved €85/mo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594360"/>
            <a:ext cx="5257800" cy="5577840"/>
          </a:xfrm>
          <a:prstGeom prst="roundRect">
            <a:avLst>
              <a:gd name="adj" fmla="val 3826"/>
            </a:avLst>
          </a:prstGeom>
          <a:solidFill>
            <a:srgbClr val="EEF7FB"/>
          </a:solidFill>
          <a:ln w="12700">
            <a:solidFill>
              <a:srgbClr val="D9F0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097280"/>
            <a:ext cx="1219169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savings potential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2331720"/>
            <a:ext cx="1219169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€500-€5,000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40156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monthly savings potential discovered by companies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85876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30% reduction in energy-related operational waste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NORDLY\nordly\scripts\assets\nordly-ic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248" y="512064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12064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Simple, transparent pricing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0" y="107899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companies discover €500-€5,000/month savings potential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3035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143000" y="1801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2185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Perfect for getting started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423160" y="28163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forever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43000" y="3264408"/>
            <a:ext cx="4663440" cy="457200"/>
          </a:xfrm>
          <a:prstGeom prst="roundRect">
            <a:avLst>
              <a:gd name="adj" fmla="val 24000"/>
            </a:avLst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3310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savings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companies discover €500-€5,000/month savings potential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43000" y="4215384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5918" y="4195267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344168" y="414223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up to 12 months of data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43000" y="4471416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5918" y="4451299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344168" y="439826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AI insights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43000" y="4727448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75918" y="4707331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344168" y="465429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ESG report per month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143000" y="4983480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5918" y="4963363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344168" y="491032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43000" y="5239512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5918" y="5219395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344168" y="5166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CO2 tracking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80760" y="1508760"/>
            <a:ext cx="530352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0E8DB8"/>
            </a:solidFill>
            <a:prstDash val="solid"/>
          </a:ln>
          <a:effectLst>
            <a:outerShdw sx="100000" sy="100000" kx="0" ky="0" algn="bl" rotWithShape="0" blurRad="12700" dist="50800" dir="2700000">
              <a:srgbClr val="B6C8D6">
                <a:alpha val="6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138160" y="1371600"/>
            <a:ext cx="1188720" cy="320040"/>
          </a:xfrm>
          <a:prstGeom prst="roundRect">
            <a:avLst>
              <a:gd name="adj" fmla="val 51429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160" y="1399032"/>
            <a:ext cx="1188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18013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400800" y="218541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growing businesses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400800" y="2560320"/>
            <a:ext cx="1325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€99</a:t>
            </a:r>
            <a:endParaRPr lang="en-US" sz="3400" dirty="0"/>
          </a:p>
        </p:txBody>
      </p:sp>
      <p:sp>
        <p:nvSpPr>
          <p:cNvPr id="34" name="Text 31"/>
          <p:cNvSpPr/>
          <p:nvPr/>
        </p:nvSpPr>
        <p:spPr>
          <a:xfrm>
            <a:off x="7680960" y="28163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per month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400800" y="3264408"/>
            <a:ext cx="4663440" cy="457200"/>
          </a:xfrm>
          <a:prstGeom prst="roundRect">
            <a:avLst>
              <a:gd name="adj" fmla="val 24000"/>
            </a:avLst>
          </a:prstGeom>
          <a:solidFill>
            <a:srgbClr val="0E8DB8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00800" y="33101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savings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0800" y="3794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companies discover €500-€5,000/month savings potential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4215384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33718" y="4195267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601968" y="414223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data uploads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400800" y="4471416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33718" y="4451299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601968" y="439826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AI insights and predictions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400800" y="4727448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33718" y="4707331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601968" y="465429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ESG reports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400800" y="4983480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33718" y="4963363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601968" y="4910328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support and consulting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6400800" y="5239512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33718" y="5219395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6601968" y="516636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branding on reports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400800" y="5495544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33718" y="5475427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601968" y="542239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400800" y="5751576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33718" y="5731459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6601968" y="567842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collaboration (up to 10 users)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6400800" y="6007608"/>
            <a:ext cx="128016" cy="128016"/>
          </a:xfrm>
          <a:prstGeom prst="ellipse">
            <a:avLst/>
          </a:prstGeom>
          <a:solidFill>
            <a:srgbClr val="D1FAF5"/>
          </a:solidFill>
          <a:ln w="12700">
            <a:solidFill>
              <a:srgbClr val="0E8DB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433718" y="5987491"/>
            <a:ext cx="7315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8D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601968" y="5934456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 data analysis (5 years)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0" y="642823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 a custom enterprise plan? Contact sales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ODE\NORDLY\nordly\scripts\assets\nordly-logo-ful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1648" y="868680"/>
            <a:ext cx="411480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560320"/>
            <a:ext cx="12191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how much you can save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A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your savings estimate in 2 minutes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952848" y="4041648"/>
            <a:ext cx="2286000" cy="566928"/>
          </a:xfrm>
          <a:prstGeom prst="roundRect">
            <a:avLst>
              <a:gd name="adj" fmla="val 19355"/>
            </a:avLst>
          </a:prstGeom>
          <a:solidFill>
            <a:srgbClr val="0E8DB8"/>
          </a:solidFill>
          <a:ln w="12700">
            <a:solidFill>
              <a:srgbClr val="0A6F9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52848" y="40873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82803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insights. Fast setup. Clear ROI.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Nordly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Nordly Presentation</dc:title>
  <dc:subject>Nordly Product Overview</dc:subject>
  <dc:creator>Nordly</dc:creator>
  <cp:lastModifiedBy>Nordly</cp:lastModifiedBy>
  <cp:revision>1</cp:revision>
  <dcterms:created xsi:type="dcterms:W3CDTF">2026-04-16T11:50:02Z</dcterms:created>
  <dcterms:modified xsi:type="dcterms:W3CDTF">2026-04-16T11:50:02Z</dcterms:modified>
</cp:coreProperties>
</file>